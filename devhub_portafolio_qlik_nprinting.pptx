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8B94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AMBA</c:v>
                  </c:pt>
                  <c:pt idx="1">
                    <c:v>GBA Norte</c:v>
                  </c:pt>
                  <c:pt idx="2">
                    <c:v>GBA Sur</c:v>
                  </c:pt>
                  <c:pt idx="3">
                    <c:v>NOA</c:v>
                  </c:pt>
                  <c:pt idx="4">
                    <c:v>NEA</c:v>
                  </c:pt>
                  <c:pt idx="5">
                    <c:v>Cuyo</c:v>
                  </c:pt>
                  <c:pt idx="6">
                    <c:v>Patagonia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820</c:v>
                </c:pt>
                <c:pt idx="1">
                  <c:v>560</c:v>
                </c:pt>
                <c:pt idx="2">
                  <c:v>490</c:v>
                </c:pt>
                <c:pt idx="3">
                  <c:v>380</c:v>
                </c:pt>
                <c:pt idx="4">
                  <c:v>220</c:v>
                </c:pt>
                <c:pt idx="5">
                  <c:v>310</c:v>
                </c:pt>
                <c:pt idx="6">
                  <c:v>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3863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AMBA</c:v>
                  </c:pt>
                  <c:pt idx="1">
                    <c:v>GBA Norte</c:v>
                  </c:pt>
                  <c:pt idx="2">
                    <c:v>GBA Sur</c:v>
                  </c:pt>
                  <c:pt idx="3">
                    <c:v>NOA</c:v>
                  </c:pt>
                  <c:pt idx="4">
                    <c:v>NEA</c:v>
                  </c:pt>
                  <c:pt idx="5">
                    <c:v>Cuyo</c:v>
                  </c:pt>
                  <c:pt idx="6">
                    <c:v>Patagonia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940</c:v>
                </c:pt>
                <c:pt idx="1">
                  <c:v>640</c:v>
                </c:pt>
                <c:pt idx="2">
                  <c:v>550</c:v>
                </c:pt>
                <c:pt idx="3">
                  <c:v>430</c:v>
                </c:pt>
                <c:pt idx="4">
                  <c:v>260</c:v>
                </c:pt>
                <c:pt idx="5">
                  <c:v>350</c:v>
                </c:pt>
                <c:pt idx="6">
                  <c:v>180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r"/>
      <c:overlay val="0"/>
      <c:txPr>
        <a:bodyPr/>
        <a:lstStyle/>
        <a:p>
          <a:pPr>
            <a:defRPr sz="800"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 Reales</c:v>
                </c:pt>
              </c:strCache>
            </c:strRef>
          </c:tx>
          <c:spPr>
            <a:solidFill>
              <a:srgbClr val="388BFD"/>
            </a:solidFill>
            <a:ln w="25400" cap="flat">
              <a:solidFill>
                <a:srgbClr val="388BF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88BFD"/>
              </a:solidFill>
              <a:ln w="9525" cap="flat">
                <a:solidFill>
                  <a:srgbClr val="388BF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</c:v>
                  </c:pt>
                  <c:pt idx="1">
                    <c:v>A</c:v>
                  </c:pt>
                  <c:pt idx="2">
                    <c:v>S</c:v>
                  </c:pt>
                  <c:pt idx="3">
                    <c:v>O</c:v>
                  </c:pt>
                  <c:pt idx="4">
                    <c:v>N</c:v>
                  </c:pt>
                  <c:pt idx="5">
                    <c:v>D</c:v>
                  </c:pt>
                  <c:pt idx="6">
                    <c:v>E</c:v>
                  </c:pt>
                  <c:pt idx="7">
                    <c:v>F</c:v>
                  </c:pt>
                  <c:pt idx="8">
                    <c:v>M</c:v>
                  </c:pt>
                  <c:pt idx="9">
                    <c:v>A</c:v>
                  </c:pt>
                  <c:pt idx="10">
                    <c:v>M</c:v>
                  </c:pt>
                  <c:pt idx="11">
                    <c:v>J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1800</c:v>
                </c:pt>
                <c:pt idx="1">
                  <c:v>1950</c:v>
                </c:pt>
                <c:pt idx="2">
                  <c:v>2100</c:v>
                </c:pt>
                <c:pt idx="3">
                  <c:v>1850</c:v>
                </c:pt>
                <c:pt idx="4">
                  <c:v>2300</c:v>
                </c:pt>
                <c:pt idx="5">
                  <c:v>1700</c:v>
                </c:pt>
                <c:pt idx="6">
                  <c:v>2100</c:v>
                </c:pt>
                <c:pt idx="7">
                  <c:v>2400</c:v>
                </c:pt>
                <c:pt idx="8">
                  <c:v>1980</c:v>
                </c:pt>
                <c:pt idx="9">
                  <c:v>2250</c:v>
                </c:pt>
                <c:pt idx="10">
                  <c:v>2350</c:v>
                </c:pt>
                <c:pt idx="11">
                  <c:v>2450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Presupuesto</c:v>
                </c:pt>
              </c:strCache>
            </c:strRef>
          </c:tx>
          <c:spPr>
            <a:solidFill>
              <a:srgbClr val="8B949E"/>
            </a:solidFill>
            <a:ln w="25400" cap="flat">
              <a:solidFill>
                <a:srgbClr val="8B94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949E"/>
              </a:solidFill>
              <a:ln w="9525" cap="flat">
                <a:solidFill>
                  <a:srgbClr val="8B94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</c:v>
                  </c:pt>
                  <c:pt idx="1">
                    <c:v>A</c:v>
                  </c:pt>
                  <c:pt idx="2">
                    <c:v>S</c:v>
                  </c:pt>
                  <c:pt idx="3">
                    <c:v>O</c:v>
                  </c:pt>
                  <c:pt idx="4">
                    <c:v>N</c:v>
                  </c:pt>
                  <c:pt idx="5">
                    <c:v>D</c:v>
                  </c:pt>
                  <c:pt idx="6">
                    <c:v>E</c:v>
                  </c:pt>
                  <c:pt idx="7">
                    <c:v>F</c:v>
                  </c:pt>
                  <c:pt idx="8">
                    <c:v>M</c:v>
                  </c:pt>
                  <c:pt idx="9">
                    <c:v>A</c:v>
                  </c:pt>
                  <c:pt idx="10">
                    <c:v>M</c:v>
                  </c:pt>
                  <c:pt idx="11">
                    <c:v>J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2000</c:v>
                </c:pt>
                <c:pt idx="1">
                  <c:v>2000</c:v>
                </c:pt>
                <c:pt idx="2">
                  <c:v>2000</c:v>
                </c:pt>
                <c:pt idx="3">
                  <c:v>2100</c:v>
                </c:pt>
                <c:pt idx="4">
                  <c:v>2100</c:v>
                </c:pt>
                <c:pt idx="5">
                  <c:v>2100</c:v>
                </c:pt>
                <c:pt idx="6">
                  <c:v>2200</c:v>
                </c:pt>
                <c:pt idx="7">
                  <c:v>2200</c:v>
                </c:pt>
                <c:pt idx="8">
                  <c:v>2300</c:v>
                </c:pt>
                <c:pt idx="9">
                  <c:v>2300</c:v>
                </c:pt>
                <c:pt idx="10">
                  <c:v>2400</c:v>
                </c:pt>
                <c:pt idx="11">
                  <c:v>2400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r"/>
      <c:overlay val="0"/>
      <c:txPr>
        <a:bodyPr/>
        <a:lstStyle/>
        <a:p>
          <a:pPr>
            <a:defRPr sz="800"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6FEB"/>
              </a:solidFill>
              <a:effectLst/>
            </c:spPr>
          </c:dPt>
          <c:dPt>
            <c:idx val="1"/>
            <c:bubble3D val="0"/>
            <c:spPr>
              <a:solidFill>
                <a:srgbClr val="238636"/>
              </a:solidFill>
              <a:effectLst/>
            </c:spPr>
          </c:dPt>
          <c:dPt>
            <c:idx val="2"/>
            <c:bubble3D val="0"/>
            <c:spPr>
              <a:solidFill>
                <a:srgbClr val="06B6D4"/>
              </a:solidFill>
              <a:effectLst/>
            </c:spPr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bubble3D val="0"/>
            <c:spPr>
              <a:solidFill>
                <a:srgbClr val="F9731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Software</c:v>
                </c:pt>
                <c:pt idx="1">
                  <c:v>Servicios</c:v>
                </c:pt>
                <c:pt idx="2">
                  <c:v>Hardware</c:v>
                </c:pt>
                <c:pt idx="3">
                  <c:v>Consultoría</c:v>
                </c:pt>
                <c:pt idx="4">
                  <c:v>Training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28</c:v>
                </c:pt>
                <c:pt idx="2">
                  <c:v>18</c:v>
                </c:pt>
                <c:pt idx="3">
                  <c:v>13</c:v>
                </c:pt>
                <c:pt idx="4">
                  <c:v>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 2026</c:v>
                </c:pt>
              </c:strCache>
            </c:strRef>
          </c:tx>
          <c:spPr>
            <a:solidFill>
              <a:srgbClr val="388B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DevHub Pro</c:v>
                  </c:pt>
                  <c:pt idx="1">
                    <c:v>Analytics Suite</c:v>
                  </c:pt>
                  <c:pt idx="2">
                    <c:v>Data Connector</c:v>
                  </c:pt>
                  <c:pt idx="3">
                    <c:v>API Gateway</c:v>
                  </c:pt>
                  <c:pt idx="4">
                    <c:v>ML Engine</c:v>
                  </c:pt>
                  <c:pt idx="5">
                    <c:v>Dashboard Pkg</c:v>
                  </c:pt>
                  <c:pt idx="6">
                    <c:v>Report Builder</c:v>
                  </c:pt>
                  <c:pt idx="7">
                    <c:v>Security Module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480</c:v>
                </c:pt>
                <c:pt idx="1">
                  <c:v>390</c:v>
                </c:pt>
                <c:pt idx="2">
                  <c:v>310</c:v>
                </c:pt>
                <c:pt idx="3">
                  <c:v>280</c:v>
                </c:pt>
                <c:pt idx="4">
                  <c:v>245</c:v>
                </c:pt>
                <c:pt idx="5">
                  <c:v>210</c:v>
                </c:pt>
                <c:pt idx="6">
                  <c:v>180</c:v>
                </c:pt>
                <c:pt idx="7">
                  <c:v>155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5943600" cy="4572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743200"/>
            <a:ext cx="5029200" cy="5029200"/>
          </a:xfrm>
          <a:prstGeom prst="rect">
            <a:avLst/>
          </a:prstGeom>
          <a:solidFill>
            <a:srgbClr val="21262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36576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86868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137160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18745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237744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2440" y="36576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86868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137160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8745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237744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36576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0" y="86868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137160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0" y="18745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0" y="237744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36576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8280" y="86868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137160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98280" y="18745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98280" y="237744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0" y="36576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0" y="86868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0" y="137160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0" y="18745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0" y="237744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04120" y="36576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04120" y="86868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04120" y="137160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04120" y="18745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04120" y="237744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07040" y="36576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607040" y="86868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607040" y="137160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07040" y="18745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607040" y="237744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109960" y="36576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109960" y="86868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109960" y="137160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109960" y="18745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109960" y="237744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502920"/>
            <a:ext cx="548640" cy="548640"/>
          </a:xfrm>
          <a:prstGeom prst="rect">
            <a:avLst>
              <a:gd name="adj" fmla="val 13333"/>
            </a:avLst>
          </a:prstGeom>
          <a:solidFill>
            <a:srgbClr val="238636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548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97280" y="548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DevHub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457200" y="13716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BI</a:t>
            </a:r>
            <a:endParaRPr lang="en-US" sz="5200" dirty="0"/>
          </a:p>
        </p:txBody>
      </p:sp>
      <p:sp>
        <p:nvSpPr>
          <p:cNvPr id="49" name="Text 47"/>
          <p:cNvSpPr/>
          <p:nvPr/>
        </p:nvSpPr>
        <p:spPr>
          <a:xfrm>
            <a:off x="457200" y="21488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8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 &amp; NPrinting</a:t>
            </a:r>
            <a:endParaRPr lang="en-US" sz="3400" dirty="0"/>
          </a:p>
        </p:txBody>
      </p:sp>
      <p:sp>
        <p:nvSpPr>
          <p:cNvPr id="50" name="Shape 48"/>
          <p:cNvSpPr/>
          <p:nvPr/>
        </p:nvSpPr>
        <p:spPr>
          <a:xfrm>
            <a:off x="457200" y="2834640"/>
            <a:ext cx="502920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2971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Business Intelligence para el ecosistema DevHub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interactivos · Reportes automatizados · Arquitectura escalable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57200" y="4023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45720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011680" y="4023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201168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NPrinting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566160" y="4023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240+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356616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documentados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120640" y="4023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50K+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512064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activos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315200" y="320040"/>
            <a:ext cx="4572000" cy="6217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15200" y="320040"/>
            <a:ext cx="457200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06640" y="34747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DevHub Analytics — Dashboard Ejecutivo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452360" y="896112"/>
            <a:ext cx="1005840" cy="640080"/>
          </a:xfrm>
          <a:prstGeom prst="rect">
            <a:avLst/>
          </a:prstGeom>
          <a:solidFill>
            <a:srgbClr val="0D1117"/>
          </a:solidFill>
          <a:ln w="9525">
            <a:solidFill>
              <a:srgbClr val="23863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0" y="9326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$2.4M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7498080" y="1280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8567928" y="896112"/>
            <a:ext cx="1005840" cy="640080"/>
          </a:xfrm>
          <a:prstGeom prst="rect">
            <a:avLst/>
          </a:prstGeom>
          <a:solidFill>
            <a:srgbClr val="0D1117"/>
          </a:solidFill>
          <a:ln w="9525">
            <a:solidFill>
              <a:srgbClr val="388BF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613648" y="9326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8613648" y="1280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Cumplim.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9683496" y="896112"/>
            <a:ext cx="1005840" cy="640080"/>
          </a:xfrm>
          <a:prstGeom prst="rect">
            <a:avLst/>
          </a:prstGeom>
          <a:solidFill>
            <a:srgbClr val="0D1117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729216" y="9326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9729216" y="1280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10799064" y="896112"/>
            <a:ext cx="1005840" cy="640080"/>
          </a:xfrm>
          <a:prstGeom prst="rect">
            <a:avLst/>
          </a:prstGeom>
          <a:solidFill>
            <a:srgbClr val="0D1117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844784" y="9326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↑12%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10844784" y="1280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año ant.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7452360" y="1664208"/>
            <a:ext cx="4343400" cy="219456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543800" y="1719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Mensuales 2026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589520" y="2427732"/>
            <a:ext cx="457200" cy="1010412"/>
          </a:xfrm>
          <a:prstGeom prst="rect">
            <a:avLst/>
          </a:prstGeom>
          <a:solidFill>
            <a:srgbClr val="388BF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589520" y="34747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8247888" y="2116836"/>
            <a:ext cx="457200" cy="1321308"/>
          </a:xfrm>
          <a:prstGeom prst="rect">
            <a:avLst/>
          </a:prstGeom>
          <a:solidFill>
            <a:srgbClr val="388BF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247888" y="34747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8906256" y="2318918"/>
            <a:ext cx="457200" cy="1119226"/>
          </a:xfrm>
          <a:prstGeom prst="rect">
            <a:avLst/>
          </a:prstGeom>
          <a:solidFill>
            <a:srgbClr val="388BF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906256" y="34747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9564624" y="2023567"/>
            <a:ext cx="457200" cy="1414577"/>
          </a:xfrm>
          <a:prstGeom prst="rect">
            <a:avLst/>
          </a:prstGeom>
          <a:solidFill>
            <a:srgbClr val="388BF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564624" y="34747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10222992" y="2225650"/>
            <a:ext cx="457200" cy="1212494"/>
          </a:xfrm>
          <a:prstGeom prst="rect">
            <a:avLst/>
          </a:prstGeom>
          <a:solidFill>
            <a:srgbClr val="388BFD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222992" y="34747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10881360" y="1961388"/>
            <a:ext cx="457200" cy="1476756"/>
          </a:xfrm>
          <a:prstGeom prst="rect">
            <a:avLst/>
          </a:prstGeom>
          <a:solidFill>
            <a:srgbClr val="23863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881360" y="34747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7452360" y="3977640"/>
            <a:ext cx="2011680" cy="137160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543800" y="4023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Regiones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7516368" y="4279392"/>
            <a:ext cx="164592" cy="128016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726680" y="426110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  35%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7516368" y="4498848"/>
            <a:ext cx="164592" cy="12801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726680" y="44805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GBA  25%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7516368" y="4718304"/>
            <a:ext cx="164592" cy="1280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726680" y="47000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  20%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7516368" y="4937760"/>
            <a:ext cx="164592" cy="1280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726680" y="49194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 20%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9601200" y="3977640"/>
            <a:ext cx="2194560" cy="137160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692640" y="40233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Clientes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9601200" y="4251960"/>
            <a:ext cx="219456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646920" y="42702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</a:t>
            </a:r>
            <a:endParaRPr lang="en-US" sz="650" dirty="0"/>
          </a:p>
        </p:txBody>
      </p:sp>
      <p:sp>
        <p:nvSpPr>
          <p:cNvPr id="103" name="Text 101"/>
          <p:cNvSpPr/>
          <p:nvPr/>
        </p:nvSpPr>
        <p:spPr>
          <a:xfrm>
            <a:off x="10835640" y="42702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$358K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9601200" y="4453128"/>
            <a:ext cx="2194560" cy="1828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646920" y="44714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TechStar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10835640" y="447141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$411K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9601200" y="4654296"/>
            <a:ext cx="219456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646920" y="46725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InnovaBI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10835640" y="46725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$329K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9601200" y="4855464"/>
            <a:ext cx="2194560" cy="1828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646920" y="48737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10835640" y="48737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$412K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9601200" y="5056632"/>
            <a:ext cx="219456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646920" y="50749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CloudSys</a:t>
            </a:r>
            <a:endParaRPr lang="en-US" sz="650" dirty="0"/>
          </a:p>
        </p:txBody>
      </p:sp>
      <p:sp>
        <p:nvSpPr>
          <p:cNvPr id="115" name="Text 113"/>
          <p:cNvSpPr/>
          <p:nvPr/>
        </p:nvSpPr>
        <p:spPr>
          <a:xfrm>
            <a:off x="10835640" y="50749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$255K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2.0  |  2026  |  Confidencial — Solo para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6152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Datos — Modelo QVD en 3 Capas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 Enterprise  |  DevHub Analytics Platform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3474720" cy="3840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3474720" cy="45720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389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EXTRACT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1645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Origen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1965960"/>
            <a:ext cx="310896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084832"/>
            <a:ext cx="3108960" cy="49377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084832"/>
            <a:ext cx="54864" cy="493776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1214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ERP (ODBC)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724912"/>
            <a:ext cx="3108960" cy="49377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724912"/>
            <a:ext cx="54864" cy="493776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7614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DWH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364992"/>
            <a:ext cx="3108960" cy="49377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364992"/>
            <a:ext cx="54864" cy="493776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4015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REST API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005072"/>
            <a:ext cx="3108960" cy="49377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005072"/>
            <a:ext cx="54864" cy="493776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0416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CSV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0" y="1188720"/>
            <a:ext cx="3474720" cy="3840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0" y="1188720"/>
            <a:ext cx="347472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1371600"/>
            <a:ext cx="45720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66360" y="1389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TRANSFORM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66360" y="1645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QVDs Transformados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0" y="1965960"/>
            <a:ext cx="310896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2084832"/>
            <a:ext cx="3108960" cy="49377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2084832"/>
            <a:ext cx="54864" cy="4937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21214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validación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2724912"/>
            <a:ext cx="3108960" cy="49377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2724912"/>
            <a:ext cx="54864" cy="4937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27614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y mapping tables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3364992"/>
            <a:ext cx="3108960" cy="49377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0" y="3364992"/>
            <a:ext cx="54864" cy="4937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34015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0" y="4005072"/>
            <a:ext cx="3108960" cy="49377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0" y="4005072"/>
            <a:ext cx="54864" cy="4937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40416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Load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412480" y="1188720"/>
            <a:ext cx="3474720" cy="3840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412480" y="1188720"/>
            <a:ext cx="3474720" cy="4572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95360" y="1371600"/>
            <a:ext cx="457200" cy="45720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95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189720" y="1389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PRESENT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189720" y="1645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Qlik Sense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595360" y="1965960"/>
            <a:ext cx="310896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95360" y="2084832"/>
            <a:ext cx="3108960" cy="49377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95360" y="2084832"/>
            <a:ext cx="54864" cy="493776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59952" y="21214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Ejecutivo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595360" y="2724912"/>
            <a:ext cx="3108960" cy="49377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95360" y="2724912"/>
            <a:ext cx="54864" cy="493776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59952" y="27614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Comercial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595360" y="3364992"/>
            <a:ext cx="3108960" cy="49377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95360" y="3364992"/>
            <a:ext cx="54864" cy="493776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759952" y="34015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Operativo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595360" y="4005072"/>
            <a:ext cx="3108960" cy="493776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595360" y="4005072"/>
            <a:ext cx="54864" cy="493776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759952" y="40416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Monitor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858768" y="2880360"/>
            <a:ext cx="475488" cy="2286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279392" y="2834640"/>
            <a:ext cx="109728" cy="109728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882128" y="2880360"/>
            <a:ext cx="475488" cy="2286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02752" y="2834640"/>
            <a:ext cx="109728" cy="109728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05072" y="27157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.QVD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8028432" y="27157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.QVD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0" y="6035040"/>
            <a:ext cx="1216152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6108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Incremental Load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57200" y="6373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cada 1 hora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3383280" y="6108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Row-Level Security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3383280" y="6373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por perfil de usuario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309360" y="6108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480 QVDs activos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309360" y="6373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capas de arquitectura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9235440" y="6108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&lt; 30 seg carga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9235440" y="6373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con QVD guards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6152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Ejecutivo — KPIs &amp; Métricas de Negocio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App: DevHub_Executive_Dashboard.qvf  |  Sprint #7  |  Actualización: diaria 06:00hs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170432"/>
            <a:ext cx="201168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1795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2026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88920" y="1170432"/>
            <a:ext cx="201168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2072" y="11795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Todas las Regiones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74920" y="1170432"/>
            <a:ext cx="201168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8072" y="11795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Todos los Productos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60920" y="1170432"/>
            <a:ext cx="201168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34072" y="11795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Todos los Clientes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646920" y="1170432"/>
            <a:ext cx="201168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20072" y="11795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Limpiar filtros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1627632"/>
            <a:ext cx="1920240" cy="1097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1627632"/>
            <a:ext cx="1920240" cy="4572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7373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$2.4M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0292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Totales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4048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+14.2% vs año ant.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2596896"/>
            <a:ext cx="1645920" cy="640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596896"/>
            <a:ext cx="1431950" cy="64008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31720" y="1627632"/>
            <a:ext cx="1920240" cy="1097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331720" y="1627632"/>
            <a:ext cx="1920240" cy="45720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17373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46888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Presupuesto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68880" y="24048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$2.75M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468880" y="2596896"/>
            <a:ext cx="1645920" cy="640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2596896"/>
            <a:ext cx="1431950" cy="64008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97680" y="1627632"/>
            <a:ext cx="1920240" cy="1097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97680" y="1627632"/>
            <a:ext cx="19202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17373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443484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Score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434840" y="24048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6 pts vs Q3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434840" y="2596896"/>
            <a:ext cx="1645920" cy="640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34840" y="2596896"/>
            <a:ext cx="1547165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63640" y="1627632"/>
            <a:ext cx="1920240" cy="1097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63640" y="1627632"/>
            <a:ext cx="192024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17373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$1,240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640080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24048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$1,100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00800" y="2596896"/>
            <a:ext cx="1645920" cy="640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2596896"/>
            <a:ext cx="185989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0" y="1627632"/>
            <a:ext cx="1920240" cy="1097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229600" y="1627632"/>
            <a:ext cx="192024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66760" y="17373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38.5%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836676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Bruto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366760" y="24048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requerido: 35%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366760" y="2596896"/>
            <a:ext cx="1645920" cy="640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66760" y="2596896"/>
            <a:ext cx="1810512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195560" y="1627632"/>
            <a:ext cx="1920240" cy="1097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0195560" y="1627632"/>
            <a:ext cx="1920240" cy="457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332720" y="17373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1,943</a:t>
            </a:r>
            <a:endParaRPr lang="en-US" sz="2800" dirty="0"/>
          </a:p>
        </p:txBody>
      </p:sp>
      <p:sp>
        <p:nvSpPr>
          <p:cNvPr id="56" name="Text 54"/>
          <p:cNvSpPr/>
          <p:nvPr/>
        </p:nvSpPr>
        <p:spPr>
          <a:xfrm>
            <a:off x="1033272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0332720" y="24048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en curso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332720" y="2596896"/>
            <a:ext cx="1645920" cy="640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332720" y="2596896"/>
            <a:ext cx="1283818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2852928"/>
            <a:ext cx="5303520" cy="2880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48640" y="2944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Ventas por Región — Mensual 2026</a:t>
            </a:r>
            <a:endParaRPr lang="en-US" sz="1000" dirty="0"/>
          </a:p>
        </p:txBody>
      </p:sp>
      <p:graphicFrame>
        <p:nvGraphicFramePr>
          <p:cNvPr id="62" name="Chart 0" descr=""/>
          <p:cNvGraphicFramePr/>
          <p:nvPr/>
        </p:nvGraphicFramePr>
        <p:xfrm>
          <a:off x="457200" y="3200400"/>
          <a:ext cx="51206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3" name="Shape 60"/>
          <p:cNvSpPr/>
          <p:nvPr/>
        </p:nvSpPr>
        <p:spPr>
          <a:xfrm>
            <a:off x="5806440" y="2852928"/>
            <a:ext cx="5989320" cy="2880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4" name="Text 61"/>
          <p:cNvSpPr/>
          <p:nvPr/>
        </p:nvSpPr>
        <p:spPr>
          <a:xfrm>
            <a:off x="5989320" y="2944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Tendencia de Ventas — Últimos 12 meses</a:t>
            </a:r>
            <a:endParaRPr lang="en-US" sz="1000" dirty="0"/>
          </a:p>
        </p:txBody>
      </p:sp>
      <p:graphicFrame>
        <p:nvGraphicFramePr>
          <p:cNvPr id="65" name="Chart 1" descr=""/>
          <p:cNvGraphicFramePr/>
          <p:nvPr/>
        </p:nvGraphicFramePr>
        <p:xfrm>
          <a:off x="5897880" y="3200400"/>
          <a:ext cx="58064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61520" cy="36576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Comercial — Análisis de Ventas &amp; Clientes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por producto, vendedor y segmento  |  Rama: Backend + Frontend  |  Fuente: SQL DWH + SAP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3291840" cy="24688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por Categoría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1417320"/>
          <a:ext cx="320040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3703320"/>
            <a:ext cx="3291840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8640" y="37947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Clientes: Frecuencia vs Valor ($K)</a:t>
            </a:r>
            <a:endParaRPr lang="en-US" sz="10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411480" y="4023360"/>
          <a:ext cx="32004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3794760" y="1115568"/>
            <a:ext cx="8001000" cy="24688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977640" y="1207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Top 10 Clientes por Facturación — 2026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840480" y="1481328"/>
            <a:ext cx="1828800" cy="27432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95344" y="14996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669280" y="1481328"/>
            <a:ext cx="1005840" cy="27432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24144" y="1499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675120" y="1481328"/>
            <a:ext cx="1005840" cy="27432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29984" y="1499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7680960" y="1481328"/>
            <a:ext cx="1005840" cy="27432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735824" y="1499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8686800" y="1481328"/>
            <a:ext cx="777240" cy="27432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741664" y="149961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YoY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9464040" y="1481328"/>
            <a:ext cx="777240" cy="27432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518904" y="149961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3840480" y="1773936"/>
            <a:ext cx="182880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895344" y="179222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 S.A.</a:t>
            </a:r>
            <a:endParaRPr lang="en-US" sz="750" dirty="0"/>
          </a:p>
        </p:txBody>
      </p:sp>
      <p:sp>
        <p:nvSpPr>
          <p:cNvPr id="29" name="Shape 25"/>
          <p:cNvSpPr/>
          <p:nvPr/>
        </p:nvSpPr>
        <p:spPr>
          <a:xfrm>
            <a:off x="5669280" y="1773936"/>
            <a:ext cx="100584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724144" y="17922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</a:t>
            </a:r>
            <a:endParaRPr lang="en-US" sz="750" dirty="0"/>
          </a:p>
        </p:txBody>
      </p:sp>
      <p:sp>
        <p:nvSpPr>
          <p:cNvPr id="31" name="Shape 27"/>
          <p:cNvSpPr/>
          <p:nvPr/>
        </p:nvSpPr>
        <p:spPr>
          <a:xfrm>
            <a:off x="6675120" y="1773936"/>
            <a:ext cx="100584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729984" y="17922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7680960" y="1773936"/>
            <a:ext cx="100584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735824" y="17922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$340K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8686800" y="1773936"/>
            <a:ext cx="77724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741664" y="179222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↑18%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9464040" y="1773936"/>
            <a:ext cx="77724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518904" y="179222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3840480" y="1993392"/>
            <a:ext cx="182880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895344" y="20116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TechStar Global</a:t>
            </a:r>
            <a:endParaRPr lang="en-US" sz="750" dirty="0"/>
          </a:p>
        </p:txBody>
      </p:sp>
      <p:sp>
        <p:nvSpPr>
          <p:cNvPr id="41" name="Shape 37"/>
          <p:cNvSpPr/>
          <p:nvPr/>
        </p:nvSpPr>
        <p:spPr>
          <a:xfrm>
            <a:off x="5669280" y="1993392"/>
            <a:ext cx="100584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724144" y="20116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GBA Norte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6675120" y="1993392"/>
            <a:ext cx="100584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729984" y="20116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750" dirty="0"/>
          </a:p>
        </p:txBody>
      </p:sp>
      <p:sp>
        <p:nvSpPr>
          <p:cNvPr id="45" name="Shape 41"/>
          <p:cNvSpPr/>
          <p:nvPr/>
        </p:nvSpPr>
        <p:spPr>
          <a:xfrm>
            <a:off x="7680960" y="1993392"/>
            <a:ext cx="100584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735824" y="20116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$285K</a:t>
            </a:r>
            <a:endParaRPr lang="en-US" sz="750" dirty="0"/>
          </a:p>
        </p:txBody>
      </p:sp>
      <p:sp>
        <p:nvSpPr>
          <p:cNvPr id="47" name="Shape 43"/>
          <p:cNvSpPr/>
          <p:nvPr/>
        </p:nvSpPr>
        <p:spPr>
          <a:xfrm>
            <a:off x="8686800" y="1993392"/>
            <a:ext cx="77724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741664" y="201168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↑9%</a:t>
            </a:r>
            <a:endParaRPr lang="en-US" sz="750" dirty="0"/>
          </a:p>
        </p:txBody>
      </p:sp>
      <p:sp>
        <p:nvSpPr>
          <p:cNvPr id="49" name="Shape 45"/>
          <p:cNvSpPr/>
          <p:nvPr/>
        </p:nvSpPr>
        <p:spPr>
          <a:xfrm>
            <a:off x="9464040" y="1993392"/>
            <a:ext cx="77724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9518904" y="201168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750" dirty="0"/>
          </a:p>
        </p:txBody>
      </p:sp>
      <p:sp>
        <p:nvSpPr>
          <p:cNvPr id="51" name="Shape 47"/>
          <p:cNvSpPr/>
          <p:nvPr/>
        </p:nvSpPr>
        <p:spPr>
          <a:xfrm>
            <a:off x="3840480" y="2212848"/>
            <a:ext cx="182880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3895344" y="223113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InnovaBI S.R.L.</a:t>
            </a:r>
            <a:endParaRPr lang="en-US" sz="750" dirty="0"/>
          </a:p>
        </p:txBody>
      </p:sp>
      <p:sp>
        <p:nvSpPr>
          <p:cNvPr id="53" name="Shape 49"/>
          <p:cNvSpPr/>
          <p:nvPr/>
        </p:nvSpPr>
        <p:spPr>
          <a:xfrm>
            <a:off x="5669280" y="2212848"/>
            <a:ext cx="100584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5724144" y="22311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GBA Sur</a:t>
            </a:r>
            <a:endParaRPr lang="en-US" sz="750" dirty="0"/>
          </a:p>
        </p:txBody>
      </p:sp>
      <p:sp>
        <p:nvSpPr>
          <p:cNvPr id="55" name="Shape 51"/>
          <p:cNvSpPr/>
          <p:nvPr/>
        </p:nvSpPr>
        <p:spPr>
          <a:xfrm>
            <a:off x="6675120" y="2212848"/>
            <a:ext cx="100584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729984" y="22311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</a:t>
            </a:r>
            <a:endParaRPr lang="en-US" sz="750" dirty="0"/>
          </a:p>
        </p:txBody>
      </p:sp>
      <p:sp>
        <p:nvSpPr>
          <p:cNvPr id="57" name="Shape 53"/>
          <p:cNvSpPr/>
          <p:nvPr/>
        </p:nvSpPr>
        <p:spPr>
          <a:xfrm>
            <a:off x="7680960" y="2212848"/>
            <a:ext cx="100584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7735824" y="22311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$210K</a:t>
            </a:r>
            <a:endParaRPr lang="en-US" sz="750" dirty="0"/>
          </a:p>
        </p:txBody>
      </p:sp>
      <p:sp>
        <p:nvSpPr>
          <p:cNvPr id="59" name="Shape 55"/>
          <p:cNvSpPr/>
          <p:nvPr/>
        </p:nvSpPr>
        <p:spPr>
          <a:xfrm>
            <a:off x="8686800" y="2212848"/>
            <a:ext cx="77724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8741664" y="223113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↓3%</a:t>
            </a:r>
            <a:endParaRPr lang="en-US" sz="750" dirty="0"/>
          </a:p>
        </p:txBody>
      </p:sp>
      <p:sp>
        <p:nvSpPr>
          <p:cNvPr id="61" name="Shape 57"/>
          <p:cNvSpPr/>
          <p:nvPr/>
        </p:nvSpPr>
        <p:spPr>
          <a:xfrm>
            <a:off x="9464040" y="2212848"/>
            <a:ext cx="77724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9518904" y="223113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riesgo</a:t>
            </a:r>
            <a:endParaRPr lang="en-US" sz="750" dirty="0"/>
          </a:p>
        </p:txBody>
      </p:sp>
      <p:sp>
        <p:nvSpPr>
          <p:cNvPr id="63" name="Shape 59"/>
          <p:cNvSpPr/>
          <p:nvPr/>
        </p:nvSpPr>
        <p:spPr>
          <a:xfrm>
            <a:off x="3840480" y="2432304"/>
            <a:ext cx="182880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3895344" y="245059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Solutions</a:t>
            </a:r>
            <a:endParaRPr lang="en-US" sz="750" dirty="0"/>
          </a:p>
        </p:txBody>
      </p:sp>
      <p:sp>
        <p:nvSpPr>
          <p:cNvPr id="65" name="Shape 61"/>
          <p:cNvSpPr/>
          <p:nvPr/>
        </p:nvSpPr>
        <p:spPr>
          <a:xfrm>
            <a:off x="5669280" y="2432304"/>
            <a:ext cx="100584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5724144" y="24505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</a:t>
            </a:r>
            <a:endParaRPr lang="en-US" sz="750" dirty="0"/>
          </a:p>
        </p:txBody>
      </p:sp>
      <p:sp>
        <p:nvSpPr>
          <p:cNvPr id="67" name="Shape 63"/>
          <p:cNvSpPr/>
          <p:nvPr/>
        </p:nvSpPr>
        <p:spPr>
          <a:xfrm>
            <a:off x="6675120" y="2432304"/>
            <a:ext cx="100584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6729984" y="24505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750" dirty="0"/>
          </a:p>
        </p:txBody>
      </p:sp>
      <p:sp>
        <p:nvSpPr>
          <p:cNvPr id="69" name="Shape 65"/>
          <p:cNvSpPr/>
          <p:nvPr/>
        </p:nvSpPr>
        <p:spPr>
          <a:xfrm>
            <a:off x="7680960" y="2432304"/>
            <a:ext cx="100584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7735824" y="24505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$195K</a:t>
            </a:r>
            <a:endParaRPr lang="en-US" sz="750" dirty="0"/>
          </a:p>
        </p:txBody>
      </p:sp>
      <p:sp>
        <p:nvSpPr>
          <p:cNvPr id="71" name="Shape 67"/>
          <p:cNvSpPr/>
          <p:nvPr/>
        </p:nvSpPr>
        <p:spPr>
          <a:xfrm>
            <a:off x="8686800" y="2432304"/>
            <a:ext cx="77724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8741664" y="245059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↑22%</a:t>
            </a:r>
            <a:endParaRPr lang="en-US" sz="750" dirty="0"/>
          </a:p>
        </p:txBody>
      </p:sp>
      <p:sp>
        <p:nvSpPr>
          <p:cNvPr id="73" name="Shape 69"/>
          <p:cNvSpPr/>
          <p:nvPr/>
        </p:nvSpPr>
        <p:spPr>
          <a:xfrm>
            <a:off x="9464040" y="2432304"/>
            <a:ext cx="77724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9518904" y="245059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750" dirty="0"/>
          </a:p>
        </p:txBody>
      </p:sp>
      <p:sp>
        <p:nvSpPr>
          <p:cNvPr id="75" name="Shape 71"/>
          <p:cNvSpPr/>
          <p:nvPr/>
        </p:nvSpPr>
        <p:spPr>
          <a:xfrm>
            <a:off x="3840480" y="2651760"/>
            <a:ext cx="182880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3895344" y="26700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CloudSys Argentina</a:t>
            </a:r>
            <a:endParaRPr lang="en-US" sz="750" dirty="0"/>
          </a:p>
        </p:txBody>
      </p:sp>
      <p:sp>
        <p:nvSpPr>
          <p:cNvPr id="77" name="Shape 73"/>
          <p:cNvSpPr/>
          <p:nvPr/>
        </p:nvSpPr>
        <p:spPr>
          <a:xfrm>
            <a:off x="5669280" y="2651760"/>
            <a:ext cx="100584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5724144" y="26700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</a:t>
            </a:r>
            <a:endParaRPr lang="en-US" sz="750" dirty="0"/>
          </a:p>
        </p:txBody>
      </p:sp>
      <p:sp>
        <p:nvSpPr>
          <p:cNvPr id="79" name="Shape 75"/>
          <p:cNvSpPr/>
          <p:nvPr/>
        </p:nvSpPr>
        <p:spPr>
          <a:xfrm>
            <a:off x="6675120" y="2651760"/>
            <a:ext cx="100584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6729984" y="26700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750" dirty="0"/>
          </a:p>
        </p:txBody>
      </p:sp>
      <p:sp>
        <p:nvSpPr>
          <p:cNvPr id="81" name="Shape 77"/>
          <p:cNvSpPr/>
          <p:nvPr/>
        </p:nvSpPr>
        <p:spPr>
          <a:xfrm>
            <a:off x="7680960" y="2651760"/>
            <a:ext cx="100584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7735824" y="26700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  <a:endParaRPr lang="en-US" sz="750" dirty="0"/>
          </a:p>
        </p:txBody>
      </p:sp>
      <p:sp>
        <p:nvSpPr>
          <p:cNvPr id="83" name="Shape 79"/>
          <p:cNvSpPr/>
          <p:nvPr/>
        </p:nvSpPr>
        <p:spPr>
          <a:xfrm>
            <a:off x="8686800" y="2651760"/>
            <a:ext cx="77724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8741664" y="267004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↑5%</a:t>
            </a:r>
            <a:endParaRPr lang="en-US" sz="750" dirty="0"/>
          </a:p>
        </p:txBody>
      </p:sp>
      <p:sp>
        <p:nvSpPr>
          <p:cNvPr id="85" name="Shape 81"/>
          <p:cNvSpPr/>
          <p:nvPr/>
        </p:nvSpPr>
        <p:spPr>
          <a:xfrm>
            <a:off x="9464040" y="2651760"/>
            <a:ext cx="77724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9518904" y="267004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750" dirty="0"/>
          </a:p>
        </p:txBody>
      </p:sp>
      <p:sp>
        <p:nvSpPr>
          <p:cNvPr id="87" name="Shape 83"/>
          <p:cNvSpPr/>
          <p:nvPr/>
        </p:nvSpPr>
        <p:spPr>
          <a:xfrm>
            <a:off x="3840480" y="2871216"/>
            <a:ext cx="182880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3895344" y="288950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NexGen IT</a:t>
            </a:r>
            <a:endParaRPr lang="en-US" sz="750" dirty="0"/>
          </a:p>
        </p:txBody>
      </p:sp>
      <p:sp>
        <p:nvSpPr>
          <p:cNvPr id="89" name="Shape 85"/>
          <p:cNvSpPr/>
          <p:nvPr/>
        </p:nvSpPr>
        <p:spPr>
          <a:xfrm>
            <a:off x="5669280" y="2871216"/>
            <a:ext cx="100584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5724144" y="28895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Cuyo</a:t>
            </a:r>
            <a:endParaRPr lang="en-US" sz="750" dirty="0"/>
          </a:p>
        </p:txBody>
      </p:sp>
      <p:sp>
        <p:nvSpPr>
          <p:cNvPr id="91" name="Shape 87"/>
          <p:cNvSpPr/>
          <p:nvPr/>
        </p:nvSpPr>
        <p:spPr>
          <a:xfrm>
            <a:off x="6675120" y="2871216"/>
            <a:ext cx="100584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2" name="Text 88"/>
          <p:cNvSpPr/>
          <p:nvPr/>
        </p:nvSpPr>
        <p:spPr>
          <a:xfrm>
            <a:off x="6729984" y="28895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750" dirty="0"/>
          </a:p>
        </p:txBody>
      </p:sp>
      <p:sp>
        <p:nvSpPr>
          <p:cNvPr id="93" name="Shape 89"/>
          <p:cNvSpPr/>
          <p:nvPr/>
        </p:nvSpPr>
        <p:spPr>
          <a:xfrm>
            <a:off x="7680960" y="2871216"/>
            <a:ext cx="100584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4" name="Text 90"/>
          <p:cNvSpPr/>
          <p:nvPr/>
        </p:nvSpPr>
        <p:spPr>
          <a:xfrm>
            <a:off x="7735824" y="28895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$145K</a:t>
            </a:r>
            <a:endParaRPr lang="en-US" sz="750" dirty="0"/>
          </a:p>
        </p:txBody>
      </p:sp>
      <p:sp>
        <p:nvSpPr>
          <p:cNvPr id="95" name="Shape 91"/>
          <p:cNvSpPr/>
          <p:nvPr/>
        </p:nvSpPr>
        <p:spPr>
          <a:xfrm>
            <a:off x="8686800" y="2871216"/>
            <a:ext cx="77724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8741664" y="28895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↑31%</a:t>
            </a:r>
            <a:endParaRPr lang="en-US" sz="750" dirty="0"/>
          </a:p>
        </p:txBody>
      </p:sp>
      <p:sp>
        <p:nvSpPr>
          <p:cNvPr id="97" name="Shape 93"/>
          <p:cNvSpPr/>
          <p:nvPr/>
        </p:nvSpPr>
        <p:spPr>
          <a:xfrm>
            <a:off x="9464040" y="2871216"/>
            <a:ext cx="77724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8" name="Text 94"/>
          <p:cNvSpPr/>
          <p:nvPr/>
        </p:nvSpPr>
        <p:spPr>
          <a:xfrm>
            <a:off x="9518904" y="28895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750" dirty="0"/>
          </a:p>
        </p:txBody>
      </p:sp>
      <p:sp>
        <p:nvSpPr>
          <p:cNvPr id="99" name="Shape 95"/>
          <p:cNvSpPr/>
          <p:nvPr/>
        </p:nvSpPr>
        <p:spPr>
          <a:xfrm>
            <a:off x="3840480" y="3090672"/>
            <a:ext cx="182880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00" name="Text 96"/>
          <p:cNvSpPr/>
          <p:nvPr/>
        </p:nvSpPr>
        <p:spPr>
          <a:xfrm>
            <a:off x="3895344" y="31089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SysCore Ltd.</a:t>
            </a:r>
            <a:endParaRPr lang="en-US" sz="750" dirty="0"/>
          </a:p>
        </p:txBody>
      </p:sp>
      <p:sp>
        <p:nvSpPr>
          <p:cNvPr id="101" name="Shape 97"/>
          <p:cNvSpPr/>
          <p:nvPr/>
        </p:nvSpPr>
        <p:spPr>
          <a:xfrm>
            <a:off x="5669280" y="3090672"/>
            <a:ext cx="100584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02" name="Text 98"/>
          <p:cNvSpPr/>
          <p:nvPr/>
        </p:nvSpPr>
        <p:spPr>
          <a:xfrm>
            <a:off x="5724144" y="31089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</a:t>
            </a:r>
            <a:endParaRPr lang="en-US" sz="750" dirty="0"/>
          </a:p>
        </p:txBody>
      </p:sp>
      <p:sp>
        <p:nvSpPr>
          <p:cNvPr id="103" name="Shape 99"/>
          <p:cNvSpPr/>
          <p:nvPr/>
        </p:nvSpPr>
        <p:spPr>
          <a:xfrm>
            <a:off x="6675120" y="3090672"/>
            <a:ext cx="100584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04" name="Text 100"/>
          <p:cNvSpPr/>
          <p:nvPr/>
        </p:nvSpPr>
        <p:spPr>
          <a:xfrm>
            <a:off x="6729984" y="31089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750" dirty="0"/>
          </a:p>
        </p:txBody>
      </p:sp>
      <p:sp>
        <p:nvSpPr>
          <p:cNvPr id="105" name="Shape 101"/>
          <p:cNvSpPr/>
          <p:nvPr/>
        </p:nvSpPr>
        <p:spPr>
          <a:xfrm>
            <a:off x="7680960" y="3090672"/>
            <a:ext cx="100584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06" name="Text 102"/>
          <p:cNvSpPr/>
          <p:nvPr/>
        </p:nvSpPr>
        <p:spPr>
          <a:xfrm>
            <a:off x="7735824" y="31089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$130K</a:t>
            </a:r>
            <a:endParaRPr lang="en-US" sz="750" dirty="0"/>
          </a:p>
        </p:txBody>
      </p:sp>
      <p:sp>
        <p:nvSpPr>
          <p:cNvPr id="107" name="Shape 103"/>
          <p:cNvSpPr/>
          <p:nvPr/>
        </p:nvSpPr>
        <p:spPr>
          <a:xfrm>
            <a:off x="8686800" y="3090672"/>
            <a:ext cx="77724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08" name="Text 104"/>
          <p:cNvSpPr/>
          <p:nvPr/>
        </p:nvSpPr>
        <p:spPr>
          <a:xfrm>
            <a:off x="8741664" y="310896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↓8%</a:t>
            </a:r>
            <a:endParaRPr lang="en-US" sz="750" dirty="0"/>
          </a:p>
        </p:txBody>
      </p:sp>
      <p:sp>
        <p:nvSpPr>
          <p:cNvPr id="109" name="Shape 105"/>
          <p:cNvSpPr/>
          <p:nvPr/>
        </p:nvSpPr>
        <p:spPr>
          <a:xfrm>
            <a:off x="9464040" y="3090672"/>
            <a:ext cx="777240" cy="20116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9518904" y="310896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Inactivo</a:t>
            </a:r>
            <a:endParaRPr lang="en-US" sz="750" dirty="0"/>
          </a:p>
        </p:txBody>
      </p:sp>
      <p:sp>
        <p:nvSpPr>
          <p:cNvPr id="111" name="Shape 107"/>
          <p:cNvSpPr/>
          <p:nvPr/>
        </p:nvSpPr>
        <p:spPr>
          <a:xfrm>
            <a:off x="3840480" y="3310128"/>
            <a:ext cx="182880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12" name="Text 108"/>
          <p:cNvSpPr/>
          <p:nvPr/>
        </p:nvSpPr>
        <p:spPr>
          <a:xfrm>
            <a:off x="3895344" y="33284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AlphaTech S.A.</a:t>
            </a:r>
            <a:endParaRPr lang="en-US" sz="750" dirty="0"/>
          </a:p>
        </p:txBody>
      </p:sp>
      <p:sp>
        <p:nvSpPr>
          <p:cNvPr id="113" name="Shape 109"/>
          <p:cNvSpPr/>
          <p:nvPr/>
        </p:nvSpPr>
        <p:spPr>
          <a:xfrm>
            <a:off x="5669280" y="3310128"/>
            <a:ext cx="100584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14" name="Text 110"/>
          <p:cNvSpPr/>
          <p:nvPr/>
        </p:nvSpPr>
        <p:spPr>
          <a:xfrm>
            <a:off x="5724144" y="33284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Patagonia</a:t>
            </a:r>
            <a:endParaRPr lang="en-US" sz="750" dirty="0"/>
          </a:p>
        </p:txBody>
      </p:sp>
      <p:sp>
        <p:nvSpPr>
          <p:cNvPr id="115" name="Shape 111"/>
          <p:cNvSpPr/>
          <p:nvPr/>
        </p:nvSpPr>
        <p:spPr>
          <a:xfrm>
            <a:off x="6675120" y="3310128"/>
            <a:ext cx="100584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16" name="Text 112"/>
          <p:cNvSpPr/>
          <p:nvPr/>
        </p:nvSpPr>
        <p:spPr>
          <a:xfrm>
            <a:off x="6729984" y="33284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750" dirty="0"/>
          </a:p>
        </p:txBody>
      </p:sp>
      <p:sp>
        <p:nvSpPr>
          <p:cNvPr id="117" name="Shape 113"/>
          <p:cNvSpPr/>
          <p:nvPr/>
        </p:nvSpPr>
        <p:spPr>
          <a:xfrm>
            <a:off x="7680960" y="3310128"/>
            <a:ext cx="100584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18" name="Text 114"/>
          <p:cNvSpPr/>
          <p:nvPr/>
        </p:nvSpPr>
        <p:spPr>
          <a:xfrm>
            <a:off x="7735824" y="33284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$115K</a:t>
            </a:r>
            <a:endParaRPr lang="en-US" sz="750" dirty="0"/>
          </a:p>
        </p:txBody>
      </p:sp>
      <p:sp>
        <p:nvSpPr>
          <p:cNvPr id="119" name="Shape 115"/>
          <p:cNvSpPr/>
          <p:nvPr/>
        </p:nvSpPr>
        <p:spPr>
          <a:xfrm>
            <a:off x="8686800" y="3310128"/>
            <a:ext cx="77724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20" name="Text 116"/>
          <p:cNvSpPr/>
          <p:nvPr/>
        </p:nvSpPr>
        <p:spPr>
          <a:xfrm>
            <a:off x="8741664" y="332841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↑12%</a:t>
            </a:r>
            <a:endParaRPr lang="en-US" sz="750" dirty="0"/>
          </a:p>
        </p:txBody>
      </p:sp>
      <p:sp>
        <p:nvSpPr>
          <p:cNvPr id="121" name="Shape 117"/>
          <p:cNvSpPr/>
          <p:nvPr/>
        </p:nvSpPr>
        <p:spPr>
          <a:xfrm>
            <a:off x="9464040" y="3310128"/>
            <a:ext cx="777240" cy="201168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22" name="Text 118"/>
          <p:cNvSpPr/>
          <p:nvPr/>
        </p:nvSpPr>
        <p:spPr>
          <a:xfrm>
            <a:off x="9518904" y="332841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750" dirty="0"/>
          </a:p>
        </p:txBody>
      </p:sp>
      <p:sp>
        <p:nvSpPr>
          <p:cNvPr id="123" name="Shape 119"/>
          <p:cNvSpPr/>
          <p:nvPr/>
        </p:nvSpPr>
        <p:spPr>
          <a:xfrm>
            <a:off x="3794760" y="3703320"/>
            <a:ext cx="8001000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4" name="Text 120"/>
          <p:cNvSpPr/>
          <p:nvPr/>
        </p:nvSpPr>
        <p:spPr>
          <a:xfrm>
            <a:off x="3977640" y="3794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por Producto — Top 8 SKUs</a:t>
            </a:r>
            <a:endParaRPr lang="en-US" sz="1000" dirty="0"/>
          </a:p>
        </p:txBody>
      </p:sp>
      <p:graphicFrame>
        <p:nvGraphicFramePr>
          <p:cNvPr id="125" name="Chart 2" descr=""/>
          <p:cNvGraphicFramePr/>
          <p:nvPr/>
        </p:nvGraphicFramePr>
        <p:xfrm>
          <a:off x="3840480" y="4005072"/>
          <a:ext cx="786384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6152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NPrinting — Automatización y Distribución de Reportes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Excel · PowerPoint · PDF · HTML  |  Distribución: Email · NewsStand · SharePoint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5577840" cy="4572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207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Inventario de Reportes NPrinting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36192"/>
            <a:ext cx="1874520" cy="2560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5448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31720" y="1536192"/>
            <a:ext cx="868680" cy="2560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554480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0" y="1536192"/>
            <a:ext cx="868680" cy="2560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554480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069080" y="1536192"/>
            <a:ext cx="1417320" cy="2560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554480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Destinatarios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810512"/>
            <a:ext cx="187452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810512"/>
            <a:ext cx="45720" cy="402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901952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Ejecutivo Mensual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331720" y="1810512"/>
            <a:ext cx="86868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23160" y="1901952"/>
            <a:ext cx="640080" cy="219456"/>
          </a:xfrm>
          <a:prstGeom prst="rect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190195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0" y="1810512"/>
            <a:ext cx="86868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190195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069080" y="1810512"/>
            <a:ext cx="141732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1901952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C-Level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2258568"/>
            <a:ext cx="187452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258568"/>
            <a:ext cx="45720" cy="402336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35000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Ventas Regionales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331720" y="2258568"/>
            <a:ext cx="86868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23160" y="2350008"/>
            <a:ext cx="640080" cy="219456"/>
          </a:xfrm>
          <a:prstGeom prst="rect">
            <a:avLst/>
          </a:prstGeom>
          <a:solidFill>
            <a:srgbClr val="2EA043">
              <a:alpha val="30000"/>
            </a:srgbClr>
          </a:solidFill>
          <a:ln w="6350">
            <a:solidFill>
              <a:srgbClr val="2EA0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0" y="2350008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0" y="2258568"/>
            <a:ext cx="86868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2350008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069080" y="2258568"/>
            <a:ext cx="141732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2350008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2706624"/>
            <a:ext cx="187452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2706624"/>
            <a:ext cx="45720" cy="402336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2798064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PDF Diario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331720" y="2706624"/>
            <a:ext cx="86868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23160" y="2798064"/>
            <a:ext cx="640080" cy="219456"/>
          </a:xfrm>
          <a:prstGeom prst="rect">
            <a:avLst/>
          </a:prstGeom>
          <a:solidFill>
            <a:srgbClr val="388BFD">
              <a:alpha val="30000"/>
            </a:srgbClr>
          </a:solidFill>
          <a:ln w="6350">
            <a:solidFill>
              <a:srgbClr val="388BF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77440" y="2798064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00400" y="2706624"/>
            <a:ext cx="86868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46120" y="2798064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069080" y="2706624"/>
            <a:ext cx="141732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0" y="2798064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Comercial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3154680"/>
            <a:ext cx="187452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3154680"/>
            <a:ext cx="45720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3246120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Top 100 Clientes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331720" y="3154680"/>
            <a:ext cx="86868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23160" y="3246120"/>
            <a:ext cx="640080" cy="219456"/>
          </a:xfrm>
          <a:prstGeom prst="rect">
            <a:avLst/>
          </a:prstGeom>
          <a:solidFill>
            <a:srgbClr val="8B5CF6">
              <a:alpha val="3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0" y="324612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(Cycle)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200400" y="3154680"/>
            <a:ext cx="86868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46120" y="324612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Quincenal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069080" y="3154680"/>
            <a:ext cx="141732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0" y="324612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Mgrs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57200" y="3602736"/>
            <a:ext cx="187452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" y="3602736"/>
            <a:ext cx="45720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3694176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KPI Críticos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331720" y="3602736"/>
            <a:ext cx="86868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423160" y="3694176"/>
            <a:ext cx="640080" cy="219456"/>
          </a:xfrm>
          <a:prstGeom prst="rect">
            <a:avLst/>
          </a:prstGeom>
          <a:solidFill>
            <a:srgbClr val="EF4444">
              <a:alpha val="3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377440" y="3694176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Email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200400" y="3602736"/>
            <a:ext cx="86868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46120" y="3694176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069080" y="3602736"/>
            <a:ext cx="141732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14800" y="3694176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Supervisores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57200" y="4050792"/>
            <a:ext cx="187452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7200" y="4050792"/>
            <a:ext cx="4572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4142232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Nómina por Área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331720" y="4050792"/>
            <a:ext cx="86868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423160" y="4142232"/>
            <a:ext cx="640080" cy="219456"/>
          </a:xfrm>
          <a:prstGeom prst="rect">
            <a:avLst/>
          </a:prstGeom>
          <a:solidFill>
            <a:srgbClr val="06B6D4">
              <a:alpha val="3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377440" y="41422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200400" y="4050792"/>
            <a:ext cx="86868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46120" y="41422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069080" y="4050792"/>
            <a:ext cx="141732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114800" y="4142232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57200" y="4498848"/>
            <a:ext cx="187452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57200" y="4498848"/>
            <a:ext cx="45720" cy="40233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8640" y="459028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Operativo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331720" y="4498848"/>
            <a:ext cx="86868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423160" y="4590288"/>
            <a:ext cx="640080" cy="219456"/>
          </a:xfrm>
          <a:prstGeom prst="rect">
            <a:avLst/>
          </a:prstGeom>
          <a:solidFill>
            <a:srgbClr val="EAB308">
              <a:alpha val="30000"/>
            </a:srgbClr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377440" y="4590288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200400" y="4498848"/>
            <a:ext cx="86868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46120" y="4590288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069080" y="4498848"/>
            <a:ext cx="141732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14800" y="4590288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/ Finanzas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57200" y="4946904"/>
            <a:ext cx="187452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57200" y="4946904"/>
            <a:ext cx="45720" cy="40233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48640" y="5038344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Auditoría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331720" y="4946904"/>
            <a:ext cx="86868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423160" y="5038344"/>
            <a:ext cx="640080" cy="219456"/>
          </a:xfrm>
          <a:prstGeom prst="rect">
            <a:avLst/>
          </a:prstGeom>
          <a:solidFill>
            <a:srgbClr val="8B949E">
              <a:alpha val="30000"/>
            </a:srgbClr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377440" y="5038344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3200400" y="4946904"/>
            <a:ext cx="86868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46120" y="5038344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069080" y="4946904"/>
            <a:ext cx="141732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114800" y="5038344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Interna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6080760" y="1115568"/>
            <a:ext cx="5715000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6263640" y="12070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Flujo de Distribución Automatizada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6263640" y="1508760"/>
            <a:ext cx="1554480" cy="1280160"/>
          </a:xfrm>
          <a:prstGeom prst="rect">
            <a:avLst/>
          </a:prstGeom>
          <a:solidFill>
            <a:srgbClr val="21262D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355080" y="1572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01" name="Text 99"/>
          <p:cNvSpPr/>
          <p:nvPr/>
        </p:nvSpPr>
        <p:spPr>
          <a:xfrm>
            <a:off x="6355080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6355080" y="22494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/ Evento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7836408" y="2057400"/>
            <a:ext cx="237744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092440" y="1508760"/>
            <a:ext cx="1554480" cy="1280160"/>
          </a:xfrm>
          <a:prstGeom prst="rect">
            <a:avLst/>
          </a:prstGeom>
          <a:solidFill>
            <a:srgbClr val="21262D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183880" y="1572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06" name="Text 104"/>
          <p:cNvSpPr/>
          <p:nvPr/>
        </p:nvSpPr>
        <p:spPr>
          <a:xfrm>
            <a:off x="8183880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8183880" y="22494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NPrinting Engine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9665208" y="2057400"/>
            <a:ext cx="237744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921240" y="1508760"/>
            <a:ext cx="1554480" cy="1280160"/>
          </a:xfrm>
          <a:prstGeom prst="rect">
            <a:avLst/>
          </a:prstGeom>
          <a:solidFill>
            <a:srgbClr val="21262D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0012680" y="1572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111" name="Text 109"/>
          <p:cNvSpPr/>
          <p:nvPr/>
        </p:nvSpPr>
        <p:spPr>
          <a:xfrm>
            <a:off x="10012680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10012680" y="22494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NewsStand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6080760" y="3246120"/>
            <a:ext cx="5715000" cy="1234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6263640" y="33375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Métricas de Automatización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6126480" y="3639312"/>
            <a:ext cx="1280160" cy="7132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144768" y="3675888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000" dirty="0"/>
          </a:p>
        </p:txBody>
      </p:sp>
      <p:sp>
        <p:nvSpPr>
          <p:cNvPr id="117" name="Text 115"/>
          <p:cNvSpPr/>
          <p:nvPr/>
        </p:nvSpPr>
        <p:spPr>
          <a:xfrm>
            <a:off x="6144768" y="405993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activos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7543800" y="3639312"/>
            <a:ext cx="1280160" cy="7132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562088" y="3675888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1,200+</a:t>
            </a:r>
            <a:endParaRPr lang="en-US" sz="2000" dirty="0"/>
          </a:p>
        </p:txBody>
      </p:sp>
      <p:sp>
        <p:nvSpPr>
          <p:cNvPr id="120" name="Text 118"/>
          <p:cNvSpPr/>
          <p:nvPr/>
        </p:nvSpPr>
        <p:spPr>
          <a:xfrm>
            <a:off x="7562088" y="405993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Entregas/mes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8961120" y="3639312"/>
            <a:ext cx="1280160" cy="7132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979408" y="3675888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40hs</a:t>
            </a:r>
            <a:endParaRPr lang="en-US" sz="2000" dirty="0"/>
          </a:p>
        </p:txBody>
      </p:sp>
      <p:sp>
        <p:nvSpPr>
          <p:cNvPr id="123" name="Text 121"/>
          <p:cNvSpPr/>
          <p:nvPr/>
        </p:nvSpPr>
        <p:spPr>
          <a:xfrm>
            <a:off x="8979408" y="405993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Ahorradas/mes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10378440" y="3639312"/>
            <a:ext cx="1280160" cy="7132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0396728" y="3675888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2000" dirty="0"/>
          </a:p>
        </p:txBody>
      </p:sp>
      <p:sp>
        <p:nvSpPr>
          <p:cNvPr id="126" name="Text 124"/>
          <p:cNvSpPr/>
          <p:nvPr/>
        </p:nvSpPr>
        <p:spPr>
          <a:xfrm>
            <a:off x="10396728" y="405993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éxito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6080760" y="4599432"/>
            <a:ext cx="5715000" cy="1261872"/>
          </a:xfrm>
          <a:prstGeom prst="rect">
            <a:avLst/>
          </a:prstGeom>
          <a:solidFill>
            <a:srgbClr val="161B22"/>
          </a:solidFill>
          <a:ln w="9525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8" name="Text 126"/>
          <p:cNvSpPr/>
          <p:nvPr/>
        </p:nvSpPr>
        <p:spPr>
          <a:xfrm>
            <a:off x="6263640" y="46817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Cycle Reports — Personalización Masiva</a:t>
            </a:r>
            <a:endParaRPr lang="en-US" sz="1100" dirty="0"/>
          </a:p>
        </p:txBody>
      </p:sp>
      <p:sp>
        <p:nvSpPr>
          <p:cNvPr id="129" name="Text 127"/>
          <p:cNvSpPr/>
          <p:nvPr/>
        </p:nvSpPr>
        <p:spPr>
          <a:xfrm>
            <a:off x="6263640" y="4992624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reporte de Ciclo de Clientes genera automáticamente 1 Excel personalizado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Account Manager con SOLO sus clientes. Usando: Cycle Field = 'Vendedor'.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AMs × 1 reporte = 100 entregas individuales en una sola tarea programada.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6152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Avanzado — Qlik Load Script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· Incremental Load · Master Calendar · Mapping Tables · Optimización de rendimiento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5577840" cy="2880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15568"/>
            <a:ext cx="557784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7043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⬤ ⬤ ⬤   02_Transform/FACT_VENTAS.qvs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46320" y="11704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Qlik Script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1517904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══════════════════════════════════════════════════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176022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FACT_VENTAS — Incremental Load Pattern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00253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Fuente: SQL Server  | Ciclo: 1 hora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244852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══════════════════════════════════════════════════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487168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vLastDate = Peek('MaxFechaVenta', -1, 'FACT_VENTAS');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729484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vLastDate = If(Len('$(vLastDate)')&gt;0, '$(vLastDate)', '1900-01-01');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297180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321411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FACT_VENTAS: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3456432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SELECT OrdenID, FechaVenta, ClienteID,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3698748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ProductoID, Cantidad, PrecioVenta, CostoUnitario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3941064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  dbo.FactVentas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418338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  FechaVenta &gt;= '$(vLastDate)';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1115568"/>
            <a:ext cx="5623560" cy="2880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1115568"/>
            <a:ext cx="562356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170432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⬤ ⬤ ⬤   02_Transform/MASTER_CALENDAR.qvs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698480" y="11704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Qlik Script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309360" y="151790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Master Calendar con campos de análisis temporal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9360" y="176022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MinDate:  Min(FechaVenta)  INTO vMinDate;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09360" y="200253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MaxDate:  Max(FechaVenta)  INTO vMaxDate;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9360" y="224485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09360" y="248716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MASTER_CALENDAR: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09360" y="272948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Date($(vMinDate) + IterNo() - 1) AS Fecha,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09360" y="297180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Year(Date)      AS Anio,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09360" y="321411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Month(Date)     AS Mes,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09360" y="345643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Week(Date)      AS Semana,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09360" y="369874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WeekDay(Date)   AS DiaSemana,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09360" y="394106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'Q'&amp;Ceil(Month(Date)/3) AS Trimestre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309360" y="418338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AUTOGENERATE $(vMaxDate) - $(vMinDate) + 1;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" y="4133088"/>
            <a:ext cx="11430000" cy="2423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224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Técnicas Avanzadas Aplicadas en el Proyecto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02920" y="4590288"/>
            <a:ext cx="3657600" cy="749808"/>
          </a:xfrm>
          <a:prstGeom prst="rect">
            <a:avLst/>
          </a:prstGeom>
          <a:solidFill>
            <a:srgbClr val="21262D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4590288"/>
            <a:ext cx="54864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" y="464515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Tables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30936" y="490118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Decodificación de claves SAP → descripción legible mediante MapSubString()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343400" y="4590288"/>
            <a:ext cx="3657600" cy="749808"/>
          </a:xfrm>
          <a:prstGeom prst="rect">
            <a:avLst/>
          </a:prstGeom>
          <a:solidFill>
            <a:srgbClr val="21262D"/>
          </a:solidFill>
          <a:ln w="6350">
            <a:solidFill>
              <a:srgbClr val="388BF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43400" y="4590288"/>
            <a:ext cx="54864" cy="749808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71416" y="464515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QVD Guards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471416" y="490118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FileTime(qvd) &gt; FileTime(src) THEN LOAD * FROM qvd evita recargas innecesarias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183880" y="4590288"/>
            <a:ext cx="3657600" cy="749808"/>
          </a:xfrm>
          <a:prstGeom prst="rect">
            <a:avLst/>
          </a:prstGeom>
          <a:solidFill>
            <a:srgbClr val="21262D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83880" y="4590288"/>
            <a:ext cx="54864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11896" y="464515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IntervalMatch()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311896" y="490118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membresías temporales: precio vigente según fecha de transacción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02920" y="5458968"/>
            <a:ext cx="3657600" cy="749808"/>
          </a:xfrm>
          <a:prstGeom prst="rect">
            <a:avLst/>
          </a:prstGeom>
          <a:solidFill>
            <a:srgbClr val="21262D"/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2920" y="5458968"/>
            <a:ext cx="54864" cy="749808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" y="551383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Peek() / Previous()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30936" y="576986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variaciones secuenciales, saldos acumulados y detección de cambios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343400" y="5458968"/>
            <a:ext cx="3657600" cy="749808"/>
          </a:xfrm>
          <a:prstGeom prst="rect">
            <a:avLst/>
          </a:prstGeom>
          <a:solidFill>
            <a:srgbClr val="21262D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43400" y="5458968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71416" y="551383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Access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471416" y="576986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RLS: usuario ve solo su región/país según tabla de perfiles en QMC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183880" y="5458968"/>
            <a:ext cx="3657600" cy="749808"/>
          </a:xfrm>
          <a:prstGeom prst="rect">
            <a:avLst/>
          </a:prstGeom>
          <a:solidFill>
            <a:srgbClr val="21262D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183880" y="5458968"/>
            <a:ext cx="54864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11896" y="551383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Load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311896" y="576986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 incremental de solo los últimos 7 días sin afectar histórico de 5 años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61520" cy="3657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Proyecto — Scrum Board &amp; Métricas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#7  |  24 feb – 10 mar 2026  |  Metodología: Scrum  |  Equipo: 5 developers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2743200" cy="5303520"/>
          </a:xfrm>
          <a:prstGeom prst="rect">
            <a:avLst/>
          </a:prstGeom>
          <a:solidFill>
            <a:srgbClr val="161B22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15568"/>
            <a:ext cx="27432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88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PENDIENTE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1207008"/>
            <a:ext cx="310896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20700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" y="1508760"/>
            <a:ext cx="2523744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238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1508760"/>
            <a:ext cx="2523744" cy="36576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600200"/>
            <a:ext cx="640080" cy="182880"/>
          </a:xfrm>
          <a:prstGeom prst="rect">
            <a:avLst/>
          </a:prstGeom>
          <a:solidFill>
            <a:srgbClr val="238636">
              <a:alpha val="30000"/>
            </a:srgbClr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60934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30352" y="18470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SAP fuente QVD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0352" y="2258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10 mar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75488" y="2697480"/>
            <a:ext cx="2523744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" y="2697480"/>
            <a:ext cx="2523744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2788920"/>
            <a:ext cx="640080" cy="182880"/>
          </a:xfrm>
          <a:prstGeom prst="rect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79806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30352" y="30358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template Excel NPrinting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" y="34472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08 mar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75488" y="3886200"/>
            <a:ext cx="2523744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3886200"/>
            <a:ext cx="2523744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977640"/>
            <a:ext cx="640080" cy="182880"/>
          </a:xfrm>
          <a:prstGeom prst="rect">
            <a:avLst/>
          </a:prstGeom>
          <a:solidFill>
            <a:srgbClr val="EF4444">
              <a:alpha val="3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98678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530352" y="42245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Section Access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0352" y="46360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09 mar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46120" y="1115568"/>
            <a:ext cx="2743200" cy="5303520"/>
          </a:xfrm>
          <a:prstGeom prst="rect">
            <a:avLst/>
          </a:prstGeom>
          <a:solidFill>
            <a:srgbClr val="161B22"/>
          </a:solidFill>
          <a:ln w="9525">
            <a:solidFill>
              <a:srgbClr val="EAB30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46120" y="1115568"/>
            <a:ext cx="2743200" cy="457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1188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EN DESARROLLO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77840" y="1207008"/>
            <a:ext cx="310896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120700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355848" y="1508760"/>
            <a:ext cx="2523744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238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55848" y="1508760"/>
            <a:ext cx="2523744" cy="36576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10712" y="1600200"/>
            <a:ext cx="640080" cy="182880"/>
          </a:xfrm>
          <a:prstGeom prst="rect">
            <a:avLst/>
          </a:prstGeom>
          <a:solidFill>
            <a:srgbClr val="238636">
              <a:alpha val="30000"/>
            </a:srgbClr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10712" y="160934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3410712" y="18470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Load Fact Ventas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10712" y="2258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06 mar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355848" y="2697480"/>
            <a:ext cx="2523744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355848" y="2697480"/>
            <a:ext cx="2523744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10712" y="2788920"/>
            <a:ext cx="640080" cy="182880"/>
          </a:xfrm>
          <a:prstGeom prst="rect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10712" y="279806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3410712" y="30358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Ejecutivo v2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410712" y="34472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07 mar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126480" y="1115568"/>
            <a:ext cx="2743200" cy="5303520"/>
          </a:xfrm>
          <a:prstGeom prst="rect">
            <a:avLst/>
          </a:prstGeom>
          <a:solidFill>
            <a:srgbClr val="161B22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26480" y="1115568"/>
            <a:ext cx="27432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36208" y="1188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A FUTURO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458200" y="1207008"/>
            <a:ext cx="310896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58200" y="120700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236208" y="1508760"/>
            <a:ext cx="2523744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238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36208" y="1508760"/>
            <a:ext cx="2523744" cy="36576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91072" y="1600200"/>
            <a:ext cx="640080" cy="182880"/>
          </a:xfrm>
          <a:prstGeom prst="rect">
            <a:avLst/>
          </a:prstGeom>
          <a:solidFill>
            <a:srgbClr val="238636">
              <a:alpha val="30000"/>
            </a:srgbClr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91072" y="160934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6291072" y="18470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Salesforce API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291072" y="2258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20 mar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236208" y="2697480"/>
            <a:ext cx="2523744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236208" y="2697480"/>
            <a:ext cx="2523744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91072" y="2788920"/>
            <a:ext cx="640080" cy="182880"/>
          </a:xfrm>
          <a:prstGeom prst="rect">
            <a:avLst/>
          </a:prstGeom>
          <a:solidFill>
            <a:srgbClr val="06B6D4">
              <a:alpha val="3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91072" y="279806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6291072" y="30358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 de Ventas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291072" y="34472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30 mar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6236208" y="3886200"/>
            <a:ext cx="2523744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236208" y="3886200"/>
            <a:ext cx="2523744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91072" y="3977640"/>
            <a:ext cx="640080" cy="182880"/>
          </a:xfrm>
          <a:prstGeom prst="rect">
            <a:avLst/>
          </a:prstGeom>
          <a:solidFill>
            <a:srgbClr val="8B5CF6">
              <a:alpha val="3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91072" y="398678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6291072" y="42245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Qlik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291072" y="46360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Apr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9006840" y="1115568"/>
            <a:ext cx="2743200" cy="5303520"/>
          </a:xfrm>
          <a:prstGeom prst="rect">
            <a:avLst/>
          </a:prstGeom>
          <a:solidFill>
            <a:srgbClr val="161B22"/>
          </a:solidFill>
          <a:ln w="9525">
            <a:solidFill>
              <a:srgbClr val="23863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006840" y="1115568"/>
            <a:ext cx="2743200" cy="4572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116568" y="1188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FINALIZADO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1338560" y="1207008"/>
            <a:ext cx="310896" cy="2011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1338560" y="120700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9116568" y="1508760"/>
            <a:ext cx="2523744" cy="10058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116568" y="1508760"/>
            <a:ext cx="2523744" cy="36576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171432" y="1600200"/>
            <a:ext cx="640080" cy="182880"/>
          </a:xfrm>
          <a:prstGeom prst="rect">
            <a:avLst/>
          </a:prstGeom>
          <a:solidFill>
            <a:srgbClr val="238636">
              <a:alpha val="30000"/>
            </a:srgbClr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171432" y="160934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9171432" y="18470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estrella DWH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9171432" y="2258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28 feb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11292840" y="22402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9116568" y="2697480"/>
            <a:ext cx="2523744" cy="10058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116568" y="2697480"/>
            <a:ext cx="2523744" cy="36576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171432" y="2788920"/>
            <a:ext cx="640080" cy="182880"/>
          </a:xfrm>
          <a:prstGeom prst="rect">
            <a:avLst/>
          </a:prstGeom>
          <a:solidFill>
            <a:srgbClr val="238636">
              <a:alpha val="30000"/>
            </a:srgbClr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171432" y="279806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9171432" y="30358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Calendar script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9171432" y="34472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26 feb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11292840" y="34290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9116568" y="3886200"/>
            <a:ext cx="2523744" cy="10058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116568" y="3886200"/>
            <a:ext cx="2523744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171432" y="3977640"/>
            <a:ext cx="640080" cy="182880"/>
          </a:xfrm>
          <a:prstGeom prst="rect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171432" y="398678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9171432" y="42245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 definido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9171432" y="46360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25 feb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11292840" y="46177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9116568" y="5074920"/>
            <a:ext cx="2523744" cy="10058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116568" y="5074920"/>
            <a:ext cx="2523744" cy="3657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171432" y="5166360"/>
            <a:ext cx="640080" cy="182880"/>
          </a:xfrm>
          <a:prstGeom prst="rect">
            <a:avLst/>
          </a:prstGeom>
          <a:solidFill>
            <a:srgbClr val="EAB308">
              <a:alpha val="30000"/>
            </a:srgbClr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171432" y="517550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9171432" y="5413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NPrinting server setup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9171432" y="5824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24 feb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11292840" y="58064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11567160" y="1115568"/>
            <a:ext cx="237744" cy="53035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0292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Completadas: 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123444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246888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progreso: 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320040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tareas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443484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Pendientes: 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516636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tareas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640080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futuro: 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713232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tareas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836676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 Sprint: 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90982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10332720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equipo: 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1106424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SP/sprint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61520" cy="36576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Impacto del Proyecto DevHub BI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negocio antes y después de la implementación de la plataforma DevHub Analytics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2788920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43000"/>
            <a:ext cx="2788920" cy="4572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26187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40hs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30352" y="2011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ahorradas por semana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286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reportes manuales en Excel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30352" y="3017520"/>
            <a:ext cx="2468880" cy="54864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143000"/>
            <a:ext cx="2788920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143000"/>
            <a:ext cx="2788920" cy="45720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126187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8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-73%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3456432" y="2011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datos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56432" y="2286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automática en capa Transform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56432" y="3017520"/>
            <a:ext cx="1802282" cy="54864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143000"/>
            <a:ext cx="2788920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143000"/>
            <a:ext cx="278892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126187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382512" y="2011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activos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82512" y="2286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5 países de Latinoamérica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382512" y="3017520"/>
            <a:ext cx="2098548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0" y="1143000"/>
            <a:ext cx="2788920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0" y="1143000"/>
            <a:ext cx="278892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08592" y="126187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9308592" y="2011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anual estimado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08592" y="2286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vs. horas de consultoría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308592" y="3017520"/>
            <a:ext cx="2221992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291840"/>
            <a:ext cx="11430000" cy="3246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33832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Antes vs. Después — Indicadores Clave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3749040"/>
            <a:ext cx="3200400" cy="27432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3767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703320" y="3749040"/>
            <a:ext cx="2743200" cy="27432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76472" y="37673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446520" y="3749040"/>
            <a:ext cx="3657600" cy="27432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9672" y="3767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0104120" y="3749040"/>
            <a:ext cx="1371600" cy="27432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77272" y="3767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2920" y="4050792"/>
            <a:ext cx="320040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" y="414223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generación reportes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703320" y="4050792"/>
            <a:ext cx="274320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73368" y="4050792"/>
            <a:ext cx="73152" cy="402336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76472" y="414223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horas / semana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446520" y="4050792"/>
            <a:ext cx="365760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46520" y="4050792"/>
            <a:ext cx="54864" cy="402336"/>
          </a:xfrm>
          <a:prstGeom prst="rect">
            <a:avLst/>
          </a:prstGeom>
          <a:solidFill>
            <a:srgbClr val="238636">
              <a:alpha val="70000"/>
            </a:srgbClr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414223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horas (automático)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104120" y="4050792"/>
            <a:ext cx="137160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177272" y="414223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100%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02920" y="4480560"/>
            <a:ext cx="320040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6072" y="457200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datos integradas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703320" y="4480560"/>
            <a:ext cx="274320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73368" y="4480560"/>
            <a:ext cx="73152" cy="402336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76472" y="457200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(Excel manual)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446520" y="4480560"/>
            <a:ext cx="365760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46520" y="4480560"/>
            <a:ext cx="54864" cy="402336"/>
          </a:xfrm>
          <a:prstGeom prst="rect">
            <a:avLst/>
          </a:prstGeom>
          <a:solidFill>
            <a:srgbClr val="238636">
              <a:alpha val="70000"/>
            </a:srgbClr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37960" y="4572000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(SAP, SQL, SF, CSV, API, ERP)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0104120" y="4480560"/>
            <a:ext cx="137160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177272" y="457200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3x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02920" y="4910328"/>
            <a:ext cx="320040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6072" y="500176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con acceso a datos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703320" y="4910328"/>
            <a:ext cx="274320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73368" y="4910328"/>
            <a:ext cx="73152" cy="402336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76472" y="500176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analistas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446520" y="4910328"/>
            <a:ext cx="365760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46520" y="4910328"/>
            <a:ext cx="54864" cy="402336"/>
          </a:xfrm>
          <a:prstGeom prst="rect">
            <a:avLst/>
          </a:prstGeom>
          <a:solidFill>
            <a:srgbClr val="238636">
              <a:alpha val="70000"/>
            </a:srgbClr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37960" y="5001768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usuarios (Qlik Sense)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10104120" y="4910328"/>
            <a:ext cx="137160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177272" y="5001768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66x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02920" y="5340096"/>
            <a:ext cx="320040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6072" y="5431536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de actualización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703320" y="5340096"/>
            <a:ext cx="274320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373368" y="5340096"/>
            <a:ext cx="73152" cy="402336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776472" y="543153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 manual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446520" y="5340096"/>
            <a:ext cx="365760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46520" y="5340096"/>
            <a:ext cx="54864" cy="402336"/>
          </a:xfrm>
          <a:prstGeom prst="rect">
            <a:avLst/>
          </a:prstGeom>
          <a:solidFill>
            <a:srgbClr val="238636">
              <a:alpha val="70000"/>
            </a:srgbClr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537960" y="5431536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Diaria automática (&lt; 30 min)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0104120" y="5340096"/>
            <a:ext cx="137160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177272" y="543153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30x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02920" y="5769864"/>
            <a:ext cx="320040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76072" y="5861304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distribuidos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703320" y="5769864"/>
            <a:ext cx="274320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73368" y="5769864"/>
            <a:ext cx="73152" cy="402336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776472" y="586130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PDFs manuales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446520" y="5769864"/>
            <a:ext cx="365760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446520" y="5769864"/>
            <a:ext cx="54864" cy="402336"/>
          </a:xfrm>
          <a:prstGeom prst="rect">
            <a:avLst/>
          </a:prstGeom>
          <a:solidFill>
            <a:srgbClr val="238636">
              <a:alpha val="70000"/>
            </a:srgbClr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537960" y="586130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reportes NPrinting automáticos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10104120" y="5769864"/>
            <a:ext cx="1371600" cy="40233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177272" y="586130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9.6x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502920" y="6199632"/>
            <a:ext cx="320040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76072" y="629107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en datos reportados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3703320" y="6199632"/>
            <a:ext cx="274320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73368" y="6199632"/>
            <a:ext cx="73152" cy="402336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776472" y="629107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registros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6446520" y="6199632"/>
            <a:ext cx="365760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446520" y="6199632"/>
            <a:ext cx="54864" cy="402336"/>
          </a:xfrm>
          <a:prstGeom prst="rect">
            <a:avLst/>
          </a:prstGeom>
          <a:solidFill>
            <a:srgbClr val="238636">
              <a:alpha val="70000"/>
            </a:srgbClr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537960" y="629107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0.3% (validación ETL)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10104120" y="6199632"/>
            <a:ext cx="1371600" cy="402336"/>
          </a:xfrm>
          <a:prstGeom prst="rect">
            <a:avLst/>
          </a:prstGeom>
          <a:solidFill>
            <a:srgbClr val="0D1117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177272" y="629107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98%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61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 — Ecosistema DevHub Analytics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Herramientas, lenguajes y metodologías del proyecto de Business Intelligence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3749040" cy="5349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15568"/>
            <a:ext cx="37490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225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Reporting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" y="1600200"/>
            <a:ext cx="3493008" cy="10515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" y="1600200"/>
            <a:ext cx="54864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673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 Enterprise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17520" y="1691640"/>
            <a:ext cx="841248" cy="201168"/>
          </a:xfrm>
          <a:prstGeom prst="rect">
            <a:avLst/>
          </a:prstGeom>
          <a:solidFill>
            <a:srgbClr val="06B6D4">
              <a:alpha val="3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35808" y="170078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 2023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21792" y="196596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principal de análisis y dashboards interactivos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3776" y="2770632"/>
            <a:ext cx="3493008" cy="10515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" y="2770632"/>
            <a:ext cx="54864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8437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NPrinting 23.x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17520" y="2862072"/>
            <a:ext cx="841248" cy="201168"/>
          </a:xfrm>
          <a:prstGeom prst="rect">
            <a:avLst/>
          </a:prstGeom>
          <a:solidFill>
            <a:srgbClr val="06B6D4">
              <a:alpha val="3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35808" y="287121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v23.6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21792" y="313639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y automatización de reportes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3776" y="3941064"/>
            <a:ext cx="3493008" cy="10515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" y="3941064"/>
            <a:ext cx="54864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0142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QlikView 12.x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017520" y="4032504"/>
            <a:ext cx="841248" cy="201168"/>
          </a:xfrm>
          <a:prstGeom prst="rect">
            <a:avLst/>
          </a:prstGeom>
          <a:solidFill>
            <a:srgbClr val="06B6D4">
              <a:alpha val="3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35808" y="404164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SR15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21792" y="430682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apps migradas a Qlik Sense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93776" y="5111496"/>
            <a:ext cx="3493008" cy="10515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" y="5111496"/>
            <a:ext cx="54864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5184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Catalog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017520" y="5202936"/>
            <a:ext cx="841248" cy="201168"/>
          </a:xfrm>
          <a:prstGeom prst="rect">
            <a:avLst/>
          </a:prstGeom>
          <a:solidFill>
            <a:srgbClr val="06B6D4">
              <a:alpha val="3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35808" y="521208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21792" y="5477256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y linaje de datos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297680" y="1115568"/>
            <a:ext cx="3749040" cy="5349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97680" y="1115568"/>
            <a:ext cx="3749040" cy="4572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62272" y="1225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Datos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25696" y="1600200"/>
            <a:ext cx="3493008" cy="10515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25696" y="1600200"/>
            <a:ext cx="54864" cy="105156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53712" y="1673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2022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949440" y="1691640"/>
            <a:ext cx="841248" cy="201168"/>
          </a:xfrm>
          <a:prstGeom prst="rect">
            <a:avLst/>
          </a:prstGeom>
          <a:solidFill>
            <a:srgbClr val="238636">
              <a:alpha val="30000"/>
            </a:srgbClr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67728" y="170078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16.x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553712" y="196596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principal con 50+ tablas fact/dim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425696" y="2770632"/>
            <a:ext cx="3493008" cy="10515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25696" y="2770632"/>
            <a:ext cx="54864" cy="105156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53712" y="28437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ERP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949440" y="2862072"/>
            <a:ext cx="841248" cy="201168"/>
          </a:xfrm>
          <a:prstGeom prst="rect">
            <a:avLst/>
          </a:prstGeom>
          <a:solidFill>
            <a:srgbClr val="238636">
              <a:alpha val="30000"/>
            </a:srgbClr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67728" y="287121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S/4HANA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553712" y="313639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BKPF, BSEG, VBAK via ODBC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425696" y="3941064"/>
            <a:ext cx="3493008" cy="10515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25696" y="3941064"/>
            <a:ext cx="54864" cy="105156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53712" y="40142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CRM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949440" y="4032504"/>
            <a:ext cx="841248" cy="201168"/>
          </a:xfrm>
          <a:prstGeom prst="rect">
            <a:avLst/>
          </a:prstGeom>
          <a:solidFill>
            <a:srgbClr val="238636">
              <a:alpha val="30000"/>
            </a:srgbClr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67728" y="404164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API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53712" y="430682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y actividades comerciales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425696" y="5111496"/>
            <a:ext cx="3493008" cy="10515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25696" y="5111496"/>
            <a:ext cx="54864" cy="105156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53712" y="5184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949440" y="5202936"/>
            <a:ext cx="841248" cy="201168"/>
          </a:xfrm>
          <a:prstGeom prst="rect">
            <a:avLst/>
          </a:prstGeom>
          <a:solidFill>
            <a:srgbClr val="238636">
              <a:alpha val="30000"/>
            </a:srgbClr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67728" y="521208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15.x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553712" y="5477256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mart analítico de RRHH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229600" y="1115568"/>
            <a:ext cx="3749040" cy="5349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229600" y="1115568"/>
            <a:ext cx="3749040" cy="457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94192" y="1225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Infraestructura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357616" y="1600200"/>
            <a:ext cx="3493008" cy="10515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357616" y="1600200"/>
            <a:ext cx="54864" cy="10515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85632" y="1673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0881360" y="1691640"/>
            <a:ext cx="841248" cy="201168"/>
          </a:xfrm>
          <a:prstGeom prst="rect">
            <a:avLst/>
          </a:prstGeom>
          <a:solidFill>
            <a:srgbClr val="EAB308">
              <a:alpha val="30000"/>
            </a:srgbClr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899648" y="170078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CI/CD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8485632" y="196596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automático de scripts QVS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8357616" y="2770632"/>
            <a:ext cx="3493008" cy="10515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357616" y="2770632"/>
            <a:ext cx="54864" cy="10515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485632" y="28437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Kubernetes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10881360" y="2862072"/>
            <a:ext cx="841248" cy="201168"/>
          </a:xfrm>
          <a:prstGeom prst="rect">
            <a:avLst/>
          </a:prstGeom>
          <a:solidFill>
            <a:srgbClr val="EAB308">
              <a:alpha val="30000"/>
            </a:srgbClr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899648" y="287121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8485632" y="313639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para Qlik Engine API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8357616" y="3941064"/>
            <a:ext cx="3493008" cy="10515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357616" y="3941064"/>
            <a:ext cx="54864" cy="10515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485632" y="40142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Factory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10881360" y="4032504"/>
            <a:ext cx="841248" cy="201168"/>
          </a:xfrm>
          <a:prstGeom prst="rect">
            <a:avLst/>
          </a:prstGeom>
          <a:solidFill>
            <a:srgbClr val="EAB308">
              <a:alpha val="30000"/>
            </a:srgbClr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899648" y="404164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8485632" y="430682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ETL y pipelines de datos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8357616" y="5111496"/>
            <a:ext cx="3493008" cy="10515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357616" y="5111496"/>
            <a:ext cx="54864" cy="10515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485632" y="5184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0881360" y="5202936"/>
            <a:ext cx="841248" cy="201168"/>
          </a:xfrm>
          <a:prstGeom prst="rect">
            <a:avLst/>
          </a:prstGeom>
          <a:solidFill>
            <a:srgbClr val="EAB308">
              <a:alpha val="30000"/>
            </a:srgbClr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899648" y="521208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8485632" y="5477256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Qlik Sense + NPrinting cluster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48640" y="6528816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También utilizado: Qlik Engine API · Qlik Rep. API · Node.js connector · Python qsAPI library · REST connectors · Mashup API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51792" y="0"/>
            <a:ext cx="109728" cy="685800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0175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9319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846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5760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35608" y="274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08" y="1188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35608" y="21031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35608" y="30175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35608" y="39319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35608" y="4846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08" y="5760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14016" y="274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14016" y="1188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14016" y="21031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14016" y="30175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14016" y="39319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14016" y="4846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14016" y="5760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92424" y="274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92424" y="1188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92424" y="21031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92424" y="30175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92424" y="39319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92424" y="4846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92424" y="5760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70832" y="274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70832" y="1188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70832" y="21031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70832" y="30175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70832" y="39319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70832" y="4846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70832" y="5760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49240" y="274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49240" y="1188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49240" y="21031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49240" y="30175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49240" y="39319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49240" y="4846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49240" y="5760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27648" y="274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27648" y="1188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27648" y="21031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27648" y="30175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27648" y="39319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27648" y="4846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27648" y="5760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06056" y="274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06056" y="1188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06056" y="21031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06056" y="30175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06056" y="39319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06056" y="4846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06056" y="5760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84464" y="274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84464" y="1188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84464" y="21031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84464" y="30175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84464" y="39319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84464" y="4846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84464" y="5760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262872" y="274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262872" y="1188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262872" y="21031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262872" y="30175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262872" y="39319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262872" y="4846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262872" y="5760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241280" y="274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241280" y="1188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241280" y="21031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241280" y="30175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241280" y="39319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241280" y="4846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241280" y="5760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219688" y="274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219688" y="1188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219688" y="21031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219688" y="30175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219688" y="39319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219688" y="48463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219688" y="5760720"/>
            <a:ext cx="45720" cy="45720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286000" y="1371600"/>
            <a:ext cx="7589520" cy="4114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2286000" y="1371600"/>
            <a:ext cx="7589520" cy="54864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468880" y="16002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91" name="Text 89"/>
          <p:cNvSpPr/>
          <p:nvPr/>
        </p:nvSpPr>
        <p:spPr>
          <a:xfrm>
            <a:off x="2468880" y="26060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DevHub — Qlik Sense &amp; NPrinting</a:t>
            </a:r>
            <a:endParaRPr lang="en-US" sz="1800" dirty="0"/>
          </a:p>
        </p:txBody>
      </p:sp>
      <p:sp>
        <p:nvSpPr>
          <p:cNvPr id="92" name="Shape 90"/>
          <p:cNvSpPr/>
          <p:nvPr/>
        </p:nvSpPr>
        <p:spPr>
          <a:xfrm>
            <a:off x="3200400" y="3063240"/>
            <a:ext cx="5760720" cy="228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468880" y="318211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portafolio documenta la implementación completa de la plataforma de Business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DevHub Analytics, desde la arquitectura de datos hasta la automatización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reportes con NPrinting, impactando en 200+ usuarios en 5 países.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2468880" y="4160520"/>
            <a:ext cx="1737360" cy="47548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542032" y="423367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devhub.io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343400" y="4160520"/>
            <a:ext cx="1737360" cy="47548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416552" y="423367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analytics@devhub.io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6217920" y="4160520"/>
            <a:ext cx="1737360" cy="47548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291072" y="423367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linkedin.com/in/devhub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8092440" y="4160520"/>
            <a:ext cx="1737360" cy="47548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165592" y="423367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github.com/devhub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4114800" y="5029200"/>
            <a:ext cx="3931920" cy="3200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114800" y="5056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2.0  |  Febrero 2026  |  Generado con DevHub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182880" y="5989320"/>
            <a:ext cx="11795760" cy="7772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65760" y="6035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106" name="Text 104"/>
          <p:cNvSpPr/>
          <p:nvPr/>
        </p:nvSpPr>
        <p:spPr>
          <a:xfrm>
            <a:off x="365760" y="64008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2057400" y="6035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108" name="Text 106"/>
          <p:cNvSpPr/>
          <p:nvPr/>
        </p:nvSpPr>
        <p:spPr>
          <a:xfrm>
            <a:off x="2057400" y="64008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3749040" y="6035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000" dirty="0"/>
          </a:p>
        </p:txBody>
      </p:sp>
      <p:sp>
        <p:nvSpPr>
          <p:cNvPr id="110" name="Text 108"/>
          <p:cNvSpPr/>
          <p:nvPr/>
        </p:nvSpPr>
        <p:spPr>
          <a:xfrm>
            <a:off x="3749040" y="64008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NPrinting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5440680" y="6035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2" name="Text 110"/>
          <p:cNvSpPr/>
          <p:nvPr/>
        </p:nvSpPr>
        <p:spPr>
          <a:xfrm>
            <a:off x="5440680" y="64008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QVD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7132320" y="6035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14" name="Text 112"/>
          <p:cNvSpPr/>
          <p:nvPr/>
        </p:nvSpPr>
        <p:spPr>
          <a:xfrm>
            <a:off x="7132320" y="64008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datos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8823960" y="6035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2000" dirty="0"/>
          </a:p>
        </p:txBody>
      </p:sp>
      <p:sp>
        <p:nvSpPr>
          <p:cNvPr id="116" name="Text 114"/>
          <p:cNvSpPr/>
          <p:nvPr/>
        </p:nvSpPr>
        <p:spPr>
          <a:xfrm>
            <a:off x="8823960" y="64008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10515600" y="6035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40hs</a:t>
            </a:r>
            <a:endParaRPr lang="en-US" sz="2000" dirty="0"/>
          </a:p>
        </p:txBody>
      </p:sp>
      <p:sp>
        <p:nvSpPr>
          <p:cNvPr id="118" name="Text 116"/>
          <p:cNvSpPr/>
          <p:nvPr/>
        </p:nvSpPr>
        <p:spPr>
          <a:xfrm>
            <a:off x="10515600" y="64008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Ahorradas/sem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DevHub — Portafolio Qlik Sense &amp; NPrinting</dc:title>
  <dc:subject>PptxGenJS Presentation</dc:subject>
  <dc:creator>DevHub</dc:creator>
  <cp:lastModifiedBy>DevHub</cp:lastModifiedBy>
  <cp:revision>1</cp:revision>
  <dcterms:created xsi:type="dcterms:W3CDTF">2026-02-24T14:21:09Z</dcterms:created>
  <dcterms:modified xsi:type="dcterms:W3CDTF">2026-02-24T14:21:09Z</dcterms:modified>
</cp:coreProperties>
</file>